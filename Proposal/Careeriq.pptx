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8" r:id="rId13"/>
    <p:sldId id="265" r:id="rId14"/>
  </p:sldIdLst>
  <p:sldSz cx="14630400" cy="8229600"/>
  <p:notesSz cx="8229600" cy="146304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Condensed" panose="02000000000000000000" pitchFamily="2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63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ABEF6-0172-D34D-2DAD-21A427E42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88DF4-27A1-754A-69CE-2D0614BC3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2F58D-6B43-B736-9D8F-DE96463E2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2649A-A108-A261-7CAD-9A2076F7F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654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careeriq-mkv.streamlit.app/" TargetMode="Externa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516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CAREERIQ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006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Submitted By: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61866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Mohamad Nadeem Memon (Enrollment: 12402040703013)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0608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Rudra Trivedi (Enrollment: 12302040701148)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86037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Subject -Mini Project (202040601)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29697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Class - 6CE3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9150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09C08E-6F85-80FE-2686-6BD2BD5F96A0}"/>
              </a:ext>
            </a:extLst>
          </p:cNvPr>
          <p:cNvSpPr/>
          <p:nvPr/>
        </p:nvSpPr>
        <p:spPr>
          <a:xfrm>
            <a:off x="0" y="0"/>
            <a:ext cx="14630400" cy="1611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 descr="Madhuben &amp; Bhanubhai Patel Institute of Technology, CVM ...">
            <a:extLst>
              <a:ext uri="{FF2B5EF4-FFF2-40B4-BE49-F238E27FC236}">
                <a16:creationId xmlns:a16="http://schemas.microsoft.com/office/drawing/2014/main" id="{D37AF314-12CD-30E6-B47D-91EED5D5B4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0" y="0"/>
            <a:ext cx="162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9288AF-3F3D-5E76-371D-48222545B115}"/>
              </a:ext>
            </a:extLst>
          </p:cNvPr>
          <p:cNvSpPr txBox="1"/>
          <p:nvPr/>
        </p:nvSpPr>
        <p:spPr>
          <a:xfrm>
            <a:off x="4692611" y="286402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CHARUTAR VIDYA MANDAL UNIVERSITY</a:t>
            </a:r>
            <a:endParaRPr lang="en-IN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351F9E-77DB-8968-9A75-D97A3D4B9FC9}"/>
              </a:ext>
            </a:extLst>
          </p:cNvPr>
          <p:cNvSpPr txBox="1"/>
          <p:nvPr/>
        </p:nvSpPr>
        <p:spPr>
          <a:xfrm>
            <a:off x="3457492" y="655056"/>
            <a:ext cx="7315200" cy="76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MADHUBEN AND BHANUBHAI PATEL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INSTITUTE OF TECHNOLOGY</a:t>
            </a:r>
            <a:endParaRPr lang="en-IN" dirty="0"/>
          </a:p>
        </p:txBody>
      </p:sp>
      <p:pic>
        <p:nvPicPr>
          <p:cNvPr id="16" name="Picture 15" descr="IICP College of Pharmacy">
            <a:extLst>
              <a:ext uri="{FF2B5EF4-FFF2-40B4-BE49-F238E27FC236}">
                <a16:creationId xmlns:a16="http://schemas.microsoft.com/office/drawing/2014/main" id="{AEA9F93C-CB8D-2094-12CC-1FB4C4D3B3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7706" y="146063"/>
            <a:ext cx="1532478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A148AA-FA69-A41F-24C1-23D61E221589}"/>
              </a:ext>
            </a:extLst>
          </p:cNvPr>
          <p:cNvSpPr txBox="1"/>
          <p:nvPr/>
        </p:nvSpPr>
        <p:spPr>
          <a:xfrm>
            <a:off x="715079" y="4418172"/>
            <a:ext cx="7320224" cy="43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Guided by : Ms. Jignasha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akhtaria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590205"/>
            <a:ext cx="6407944" cy="3049072"/>
          </a:xfrm>
          <a:prstGeom prst="roundRect">
            <a:avLst>
              <a:gd name="adj" fmla="val 4798"/>
            </a:avLst>
          </a:prstGeom>
          <a:solidFill>
            <a:srgbClr val="E8E8E3"/>
          </a:solidFill>
          <a:ln w="3048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763310" y="2590205"/>
            <a:ext cx="121920" cy="3049072"/>
          </a:xfrm>
          <a:prstGeom prst="roundRect">
            <a:avLst>
              <a:gd name="adj" fmla="val 27907"/>
            </a:avLst>
          </a:prstGeom>
          <a:solidFill>
            <a:srgbClr val="1E1E1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142524" y="284749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THE PROBLEM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142524" y="340887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Job seekers struggle to identify in-demand skills.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42524" y="385107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Difficulty understanding trending roles and location-based opportunities.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465617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 centralized platform for job market insights in Data Science, AI, ML, and Cloud domains.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590205"/>
            <a:ext cx="6408063" cy="3049072"/>
          </a:xfrm>
          <a:prstGeom prst="roundRect">
            <a:avLst>
              <a:gd name="adj" fmla="val 4798"/>
            </a:avLst>
          </a:prstGeom>
          <a:solidFill>
            <a:srgbClr val="E8E8E3"/>
          </a:solidFill>
          <a:ln w="30480">
            <a:solidFill>
              <a:srgbClr val="DBDC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7398067" y="2590205"/>
            <a:ext cx="121920" cy="3049072"/>
          </a:xfrm>
          <a:prstGeom prst="roundRect">
            <a:avLst>
              <a:gd name="adj" fmla="val 27907"/>
            </a:avLst>
          </a:prstGeom>
          <a:solidFill>
            <a:srgbClr val="DBDCD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7777282" y="284749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OUR SOLUTION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777282" y="3408878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Interactive Web Application using Python, Pandas, and Streamlit.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777282" y="421397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Analyzes 13,623 real job listings from Kaggle datasets.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777282" y="465617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Provides data-driven insights through visualizations and filters.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3CF326-CF8E-6D36-4F09-108F0976FF83}"/>
              </a:ext>
            </a:extLst>
          </p:cNvPr>
          <p:cNvSpPr/>
          <p:nvPr/>
        </p:nvSpPr>
        <p:spPr>
          <a:xfrm>
            <a:off x="12801600" y="7636747"/>
            <a:ext cx="1698171" cy="492369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3155"/>
            <a:ext cx="534007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 OBJECTIVES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2269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Analyze real-world job market datasets.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691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Unify multiple data sources into structured format.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1134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Extract meaningful insights using EDA.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55353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Build interactive dashboard with search and filters.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9957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Help users make informed career decisions.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143315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 SCOPE</a:t>
            </a:r>
            <a:endParaRPr lang="en-US" sz="3550" dirty="0"/>
          </a:p>
        </p:txBody>
      </p:sp>
      <p:sp>
        <p:nvSpPr>
          <p:cNvPr id="9" name="Text 7"/>
          <p:cNvSpPr/>
          <p:nvPr/>
        </p:nvSpPr>
        <p:spPr>
          <a:xfrm>
            <a:off x="7599521" y="22269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Focus Domains: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7939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 Science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2361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AI (Artificial Intelligence)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36783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ML (Machine Learning)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1205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Cloud roles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6874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Filter Options: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52544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Job Title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56966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Role Category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61388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Location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658106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Experience Level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529C53-3565-C08A-407F-B979B3F93D22}"/>
              </a:ext>
            </a:extLst>
          </p:cNvPr>
          <p:cNvSpPr/>
          <p:nvPr/>
        </p:nvSpPr>
        <p:spPr>
          <a:xfrm>
            <a:off x="12801600" y="7636747"/>
            <a:ext cx="1698171" cy="492369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406" y="459700"/>
            <a:ext cx="4817269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FLOW PIPELINE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06" y="1314093"/>
            <a:ext cx="833557" cy="10002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3650" y="1480780"/>
            <a:ext cx="223920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RAW DATA (KAGGLE)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06" y="2314337"/>
            <a:ext cx="833557" cy="10002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83650" y="2481024"/>
            <a:ext cx="402157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PREPROCESSING &amp; CLEANING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06" y="3314581"/>
            <a:ext cx="833557" cy="10002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83650" y="3481268"/>
            <a:ext cx="6441043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INTEGRATION (JOBS_MASTER.CSV - 13,623 RECORDS)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406" y="4314825"/>
            <a:ext cx="833557" cy="100024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83650" y="4481513"/>
            <a:ext cx="3468172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EXPLORATORY DATA ANALYSIS</a:t>
            </a:r>
            <a:endParaRPr lang="en-US" sz="1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406" y="5315069"/>
            <a:ext cx="833557" cy="100024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83650" y="5481757"/>
            <a:ext cx="4467820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INTERACTIVE STREAMLIT DASHBOARD</a:t>
            </a:r>
            <a:endParaRPr lang="en-US" sz="16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406" y="6315313"/>
            <a:ext cx="833557" cy="100024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83650" y="6482001"/>
            <a:ext cx="4099203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USER INSIGHTS &amp; VISUALIZATIONS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583406" y="7503081"/>
            <a:ext cx="134635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End-to-End Solution: From raw data to actionable intelligence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CC5E26-C09B-D8EB-1D76-193F928C63C7}"/>
              </a:ext>
            </a:extLst>
          </p:cNvPr>
          <p:cNvSpPr/>
          <p:nvPr/>
        </p:nvSpPr>
        <p:spPr>
          <a:xfrm>
            <a:off x="12801600" y="7636747"/>
            <a:ext cx="1698171" cy="492369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1093"/>
            <a:ext cx="6318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96847"/>
            <a:ext cx="3979545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PROGRAMMING &amp; LIBRARIES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474244"/>
            <a:ext cx="39795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Python 3.8+ (Core programming language)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79344"/>
            <a:ext cx="39795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Pandas &amp; NumPy (Data manipulation and analysis)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84445"/>
            <a:ext cx="39795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Matplotlib &amp; Seaborn (Data visualization)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4357" y="239684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WEB FRAMEWORK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5334357" y="3048953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Streamlit (Cloud Deployment)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3496" y="239684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TOOLS &amp; DATA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9873496" y="304895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IDE: VS Code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3496" y="349115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 Source: Kaggle (Naukri listings + Global DS datasets)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73496" y="429625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Version Control: GitHub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Twilio API (WhatsApp Integration)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144697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DBDBD6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488787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6428184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Minimal Requirements: 4GB RAM, any OS, modern web browser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F761EA-4A68-A988-06CA-B6F83F742652}"/>
              </a:ext>
            </a:extLst>
          </p:cNvPr>
          <p:cNvSpPr/>
          <p:nvPr/>
        </p:nvSpPr>
        <p:spPr>
          <a:xfrm>
            <a:off x="12801600" y="7636747"/>
            <a:ext cx="1698171" cy="492369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447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FEATURES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20497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SEARCH &amp; FILTER CAPABILITIES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09789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Job title search bar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4009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Role category dropdown filter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98228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Location-based filtering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42448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Experience level filtering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020497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INTERACTIVE VISUALIZATIONS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4856321" y="409789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Bar charts for role distribution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54009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Pie charts for location analysis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498228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Statistical summaries and trends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542448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Clean, intuitive user interface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612183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Real-time Results: Dynamic filtering of 13,623 job listings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514" y="539353"/>
            <a:ext cx="6347936" cy="612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CORE SYSTEM MODULES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6514" y="1838801"/>
            <a:ext cx="6530578" cy="1447443"/>
          </a:xfrm>
          <a:prstGeom prst="roundRect">
            <a:avLst>
              <a:gd name="adj" fmla="val 7581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686514" y="1815941"/>
            <a:ext cx="6530578" cy="91440"/>
          </a:xfrm>
          <a:prstGeom prst="roundRect">
            <a:avLst>
              <a:gd name="adj" fmla="val 32180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657600" y="1544598"/>
            <a:ext cx="588407" cy="588407"/>
          </a:xfrm>
          <a:prstGeom prst="roundRect">
            <a:avLst>
              <a:gd name="adj" fmla="val 155403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4051" y="1721048"/>
            <a:ext cx="235387" cy="2353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470" y="2329220"/>
            <a:ext cx="2466737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COLLECTION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05470" y="2753439"/>
            <a:ext cx="6092666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Kaggle dataset acquisition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13188" y="1838801"/>
            <a:ext cx="6530697" cy="1447443"/>
          </a:xfrm>
          <a:prstGeom prst="roundRect">
            <a:avLst>
              <a:gd name="adj" fmla="val 7581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7413188" y="1815941"/>
            <a:ext cx="6530697" cy="91440"/>
          </a:xfrm>
          <a:prstGeom prst="roundRect">
            <a:avLst>
              <a:gd name="adj" fmla="val 32180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Shape 8"/>
          <p:cNvSpPr/>
          <p:nvPr/>
        </p:nvSpPr>
        <p:spPr>
          <a:xfrm>
            <a:off x="10384274" y="1544598"/>
            <a:ext cx="588407" cy="588407"/>
          </a:xfrm>
          <a:prstGeom prst="roundRect">
            <a:avLst>
              <a:gd name="adj" fmla="val 155403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0725" y="1721048"/>
            <a:ext cx="235387" cy="2353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2144" y="2329220"/>
            <a:ext cx="3026688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PREPROCESSING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632144" y="2753439"/>
            <a:ext cx="6092785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Cleaning, deduplication, standardization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86514" y="3776543"/>
            <a:ext cx="6530578" cy="1447443"/>
          </a:xfrm>
          <a:prstGeom prst="roundRect">
            <a:avLst>
              <a:gd name="adj" fmla="val 7581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Shape 12"/>
          <p:cNvSpPr/>
          <p:nvPr/>
        </p:nvSpPr>
        <p:spPr>
          <a:xfrm>
            <a:off x="686514" y="3753683"/>
            <a:ext cx="6530578" cy="91440"/>
          </a:xfrm>
          <a:prstGeom prst="roundRect">
            <a:avLst>
              <a:gd name="adj" fmla="val 32180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Shape 13"/>
          <p:cNvSpPr/>
          <p:nvPr/>
        </p:nvSpPr>
        <p:spPr>
          <a:xfrm>
            <a:off x="3657600" y="3482340"/>
            <a:ext cx="588407" cy="588407"/>
          </a:xfrm>
          <a:prstGeom prst="roundRect">
            <a:avLst>
              <a:gd name="adj" fmla="val 155403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4051" y="3658791"/>
            <a:ext cx="235387" cy="2353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470" y="4266962"/>
            <a:ext cx="2658308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INTEGRATION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905470" y="4691182"/>
            <a:ext cx="6092666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Unified master dataset creation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413188" y="3776543"/>
            <a:ext cx="6530697" cy="1447443"/>
          </a:xfrm>
          <a:prstGeom prst="roundRect">
            <a:avLst>
              <a:gd name="adj" fmla="val 7581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17"/>
          <p:cNvSpPr/>
          <p:nvPr/>
        </p:nvSpPr>
        <p:spPr>
          <a:xfrm>
            <a:off x="7413188" y="3753683"/>
            <a:ext cx="6530697" cy="91440"/>
          </a:xfrm>
          <a:prstGeom prst="roundRect">
            <a:avLst>
              <a:gd name="adj" fmla="val 32180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Shape 18"/>
          <p:cNvSpPr/>
          <p:nvPr/>
        </p:nvSpPr>
        <p:spPr>
          <a:xfrm>
            <a:off x="10384274" y="3482340"/>
            <a:ext cx="588407" cy="588407"/>
          </a:xfrm>
          <a:prstGeom prst="roundRect">
            <a:avLst>
              <a:gd name="adj" fmla="val 155403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60725" y="3658791"/>
            <a:ext cx="235387" cy="2353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32144" y="4266962"/>
            <a:ext cx="2452092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EDA MODULE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7632144" y="4691182"/>
            <a:ext cx="6092785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Statistical analysis and pattern identification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86514" y="5714286"/>
            <a:ext cx="6530578" cy="1447443"/>
          </a:xfrm>
          <a:prstGeom prst="roundRect">
            <a:avLst>
              <a:gd name="adj" fmla="val 7581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8" name="Shape 22"/>
          <p:cNvSpPr/>
          <p:nvPr/>
        </p:nvSpPr>
        <p:spPr>
          <a:xfrm>
            <a:off x="686514" y="5691426"/>
            <a:ext cx="6530578" cy="91440"/>
          </a:xfrm>
          <a:prstGeom prst="roundRect">
            <a:avLst>
              <a:gd name="adj" fmla="val 32180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9" name="Shape 23"/>
          <p:cNvSpPr/>
          <p:nvPr/>
        </p:nvSpPr>
        <p:spPr>
          <a:xfrm>
            <a:off x="3657600" y="5420082"/>
            <a:ext cx="588407" cy="588407"/>
          </a:xfrm>
          <a:prstGeom prst="roundRect">
            <a:avLst>
              <a:gd name="adj" fmla="val 155403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4051" y="5596533"/>
            <a:ext cx="235387" cy="23538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05470" y="6204704"/>
            <a:ext cx="3293745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STREAMLIT DASHBOARD</a:t>
            </a:r>
            <a:endParaRPr lang="en-US" sz="1900" dirty="0"/>
          </a:p>
        </p:txBody>
      </p:sp>
      <p:sp>
        <p:nvSpPr>
          <p:cNvPr id="32" name="Text 25"/>
          <p:cNvSpPr/>
          <p:nvPr/>
        </p:nvSpPr>
        <p:spPr>
          <a:xfrm>
            <a:off x="905470" y="6628924"/>
            <a:ext cx="6092666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User interface and interactions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7413188" y="5714286"/>
            <a:ext cx="6530697" cy="1447443"/>
          </a:xfrm>
          <a:prstGeom prst="roundRect">
            <a:avLst>
              <a:gd name="adj" fmla="val 7581"/>
            </a:avLst>
          </a:prstGeom>
          <a:solidFill>
            <a:srgbClr val="E8E8E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4" name="Shape 27"/>
          <p:cNvSpPr/>
          <p:nvPr/>
        </p:nvSpPr>
        <p:spPr>
          <a:xfrm>
            <a:off x="7413188" y="5691426"/>
            <a:ext cx="6530697" cy="91440"/>
          </a:xfrm>
          <a:prstGeom prst="roundRect">
            <a:avLst>
              <a:gd name="adj" fmla="val 32180"/>
            </a:avLst>
          </a:prstGeom>
          <a:solidFill>
            <a:srgbClr val="C8CAC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5" name="Shape 28"/>
          <p:cNvSpPr/>
          <p:nvPr/>
        </p:nvSpPr>
        <p:spPr>
          <a:xfrm>
            <a:off x="10384274" y="5420082"/>
            <a:ext cx="588407" cy="588407"/>
          </a:xfrm>
          <a:prstGeom prst="roundRect">
            <a:avLst>
              <a:gd name="adj" fmla="val 155403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60725" y="5596533"/>
            <a:ext cx="235387" cy="23538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632144" y="6204704"/>
            <a:ext cx="3409593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VISUALIZATION MODULE</a:t>
            </a:r>
            <a:endParaRPr lang="en-US" sz="1900" dirty="0"/>
          </a:p>
        </p:txBody>
      </p:sp>
      <p:sp>
        <p:nvSpPr>
          <p:cNvPr id="38" name="Text 30"/>
          <p:cNvSpPr/>
          <p:nvPr/>
        </p:nvSpPr>
        <p:spPr>
          <a:xfrm>
            <a:off x="7632144" y="6628924"/>
            <a:ext cx="6092785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Charts, graphs, and visual analytics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686514" y="7382351"/>
            <a:ext cx="13257371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Design Approach: Modular architecture for scalability and easy maintenance</a:t>
            </a:r>
            <a:endParaRPr lang="en-US" sz="15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657B2B-71F8-6755-0061-CFCFB6B4575B}"/>
              </a:ext>
            </a:extLst>
          </p:cNvPr>
          <p:cNvSpPr/>
          <p:nvPr/>
        </p:nvSpPr>
        <p:spPr>
          <a:xfrm>
            <a:off x="12801600" y="7636747"/>
            <a:ext cx="1698171" cy="492369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0118"/>
            <a:ext cx="93143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5-MONTH DEVELOPMENT PLAN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62526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801410" y="307014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028343" y="321385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Month 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3213854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Project planning, literature review, data collection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72046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1028343" y="386417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Month 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940379" y="3864173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 preprocessing, cleaning, integration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37078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028343" y="451449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Month 3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940379" y="4514493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Exploratory Data Analysis, insight extraction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502110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1028343" y="516481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Month 4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940379" y="5164812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Dashboard development, feature integration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67142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1028343" y="581513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Month 5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5815132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Testing, optimization, documentation, deployment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BBC64B-EB41-B582-4C54-10211C4AD9DE}"/>
              </a:ext>
            </a:extLst>
          </p:cNvPr>
          <p:cNvSpPr/>
          <p:nvPr/>
        </p:nvSpPr>
        <p:spPr>
          <a:xfrm>
            <a:off x="12801600" y="7636747"/>
            <a:ext cx="1698171" cy="492369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5817"/>
            <a:ext cx="544353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EXPECTED OUTCOMES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5196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Fully functional job market analysis dashboard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618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Clear insights into skill demand and job trends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040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Practical tool for students and job seekers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462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Hands-on experience with real-world data analysis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725817"/>
            <a:ext cx="612243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FUTURE ENHANCEMENTS</a:t>
            </a:r>
            <a:endParaRPr lang="en-US" sz="3550" dirty="0"/>
          </a:p>
        </p:txBody>
      </p:sp>
      <p:sp>
        <p:nvSpPr>
          <p:cNvPr id="8" name="Text 6"/>
          <p:cNvSpPr/>
          <p:nvPr/>
        </p:nvSpPr>
        <p:spPr>
          <a:xfrm>
            <a:off x="7599521" y="35196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Salary prediction using ML models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9618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Personalized skill recommendation system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4040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Time-based trend forecasting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94224" y="54698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8687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User authentication and saved preferences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10B2FE-62DD-3A9C-4715-EB9F4B78869D}"/>
              </a:ext>
            </a:extLst>
          </p:cNvPr>
          <p:cNvSpPr/>
          <p:nvPr/>
        </p:nvSpPr>
        <p:spPr>
          <a:xfrm>
            <a:off x="12801600" y="7636747"/>
            <a:ext cx="1698171" cy="492369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BE4930-A09A-8431-7EBD-219C3EC0D3EA}"/>
              </a:ext>
            </a:extLst>
          </p:cNvPr>
          <p:cNvSpPr txBox="1"/>
          <p:nvPr/>
        </p:nvSpPr>
        <p:spPr>
          <a:xfrm>
            <a:off x="694224" y="5254117"/>
            <a:ext cx="7315200" cy="43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Cloud deployment (Streamlit Cloud)</a:t>
            </a:r>
            <a:endParaRPr 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329094-4D3A-180C-1ECD-45B423A2CDA4}"/>
              </a:ext>
            </a:extLst>
          </p:cNvPr>
          <p:cNvSpPr txBox="1"/>
          <p:nvPr/>
        </p:nvSpPr>
        <p:spPr>
          <a:xfrm>
            <a:off x="694224" y="5727135"/>
            <a:ext cx="7315200" cy="43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Integrated Twilio WhatsApp API for real-time notifications</a:t>
            </a:r>
            <a:endParaRPr lang="en-US" sz="1800" dirty="0">
              <a:solidFill>
                <a:schemeClr val="accent3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84BB7F-DECE-6F81-BF37-F7A911991DA6}"/>
              </a:ext>
            </a:extLst>
          </p:cNvPr>
          <p:cNvSpPr txBox="1"/>
          <p:nvPr/>
        </p:nvSpPr>
        <p:spPr>
          <a:xfrm>
            <a:off x="694224" y="6200153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Implemented secure API key management using Streamlit Secrets</a:t>
            </a:r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E0F28A-4406-A66F-5B92-7ACB11A3163F}"/>
              </a:ext>
            </a:extLst>
          </p:cNvPr>
          <p:cNvSpPr txBox="1"/>
          <p:nvPr/>
        </p:nvSpPr>
        <p:spPr>
          <a:xfrm>
            <a:off x="694224" y="654356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GitHub push protection handled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F2B0F5-D554-74BB-9B2F-2753A6047B18}"/>
              </a:ext>
            </a:extLst>
          </p:cNvPr>
          <p:cNvSpPr/>
          <p:nvPr/>
        </p:nvSpPr>
        <p:spPr>
          <a:xfrm>
            <a:off x="12507310" y="7462345"/>
            <a:ext cx="2039007" cy="672662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9630D-25F3-61C6-65A1-A3CEA1AD6792}"/>
              </a:ext>
            </a:extLst>
          </p:cNvPr>
          <p:cNvSpPr txBox="1"/>
          <p:nvPr/>
        </p:nvSpPr>
        <p:spPr>
          <a:xfrm>
            <a:off x="5087667" y="630621"/>
            <a:ext cx="4455066" cy="777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Live Deployment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FFEE7-17CA-3F73-8CB7-128F1E1F2EBA}"/>
              </a:ext>
            </a:extLst>
          </p:cNvPr>
          <p:cNvSpPr txBox="1"/>
          <p:nvPr/>
        </p:nvSpPr>
        <p:spPr>
          <a:xfrm>
            <a:off x="977462" y="2228193"/>
            <a:ext cx="493917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Production Deployment</a:t>
            </a:r>
            <a:endParaRPr lang="en-IN" sz="35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0469F53-2362-18B3-C89B-2EA0E4D13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474" y="5109996"/>
            <a:ext cx="55494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version control with clean commit history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89979-6CF7-A0BF-9F5B-006DDE6B7F21}"/>
              </a:ext>
            </a:extLst>
          </p:cNvPr>
          <p:cNvSpPr txBox="1"/>
          <p:nvPr/>
        </p:nvSpPr>
        <p:spPr>
          <a:xfrm>
            <a:off x="1335474" y="313096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Hosted on Streamlit Cloud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ED6DA1-8155-9089-AAD6-3DFC23473ADD}"/>
              </a:ext>
            </a:extLst>
          </p:cNvPr>
          <p:cNvSpPr txBox="1"/>
          <p:nvPr/>
        </p:nvSpPr>
        <p:spPr>
          <a:xfrm>
            <a:off x="1335474" y="3516522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URL: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https://careeriq-mkv.streamlit.app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0AA7B9-8E36-384F-E621-B18B3A1A1BA9}"/>
              </a:ext>
            </a:extLst>
          </p:cNvPr>
          <p:cNvSpPr txBox="1"/>
          <p:nvPr/>
        </p:nvSpPr>
        <p:spPr>
          <a:xfrm>
            <a:off x="1335474" y="39306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Twilio WhatsApp API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308A8-AC0C-FDF0-6DD3-DD55DAB6717E}"/>
              </a:ext>
            </a:extLst>
          </p:cNvPr>
          <p:cNvSpPr txBox="1"/>
          <p:nvPr/>
        </p:nvSpPr>
        <p:spPr>
          <a:xfrm>
            <a:off x="1335474" y="4343686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skill insight delivery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7592E1-4C44-7D13-7313-6209C52BD762}"/>
              </a:ext>
            </a:extLst>
          </p:cNvPr>
          <p:cNvSpPr txBox="1"/>
          <p:nvPr/>
        </p:nvSpPr>
        <p:spPr>
          <a:xfrm>
            <a:off x="1335474" y="471845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secrets configuration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449FDAA-66D0-C8B6-DE6D-4B8431545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849" y="2136459"/>
            <a:ext cx="7692468" cy="432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34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06F267-C765-6702-1636-D4E9ABF3418B}"/>
              </a:ext>
            </a:extLst>
          </p:cNvPr>
          <p:cNvSpPr txBox="1"/>
          <p:nvPr/>
        </p:nvSpPr>
        <p:spPr>
          <a:xfrm>
            <a:off x="4983982" y="492369"/>
            <a:ext cx="48237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Real World Impact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5C4DB3-C82F-BF01-A8D6-C92359B80152}"/>
              </a:ext>
            </a:extLst>
          </p:cNvPr>
          <p:cNvSpPr/>
          <p:nvPr/>
        </p:nvSpPr>
        <p:spPr>
          <a:xfrm>
            <a:off x="12620729" y="7415684"/>
            <a:ext cx="1879042" cy="733530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F9880-FE40-834A-910E-FF69D7C1DE0A}"/>
              </a:ext>
            </a:extLst>
          </p:cNvPr>
          <p:cNvSpPr txBox="1"/>
          <p:nvPr/>
        </p:nvSpPr>
        <p:spPr>
          <a:xfrm>
            <a:off x="944545" y="3004457"/>
            <a:ext cx="6601487" cy="22275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Help students identify Trending Skills.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Provides actionable job market insights.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Bridges gap between academic learning &amp; industry demand.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Demonstrates end-to-end ML deployment </a:t>
            </a:r>
          </a:p>
        </p:txBody>
      </p:sp>
    </p:spTree>
    <p:extLst>
      <p:ext uri="{BB962C8B-B14F-4D97-AF65-F5344CB8AC3E}">
        <p14:creationId xmlns:p14="http://schemas.microsoft.com/office/powerpoint/2010/main" val="1339553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06D2-5CB1-8CEC-50B5-58CB62475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7A4CF1-5FF3-7705-DECA-6D29D750018D}"/>
              </a:ext>
            </a:extLst>
          </p:cNvPr>
          <p:cNvSpPr/>
          <p:nvPr/>
        </p:nvSpPr>
        <p:spPr>
          <a:xfrm>
            <a:off x="793790" y="1900118"/>
            <a:ext cx="93143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IN" sz="4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Challenges &amp; Engineering Learnings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DF9218-00FD-F7D0-92FD-2D14536293AF}"/>
              </a:ext>
            </a:extLst>
          </p:cNvPr>
          <p:cNvSpPr/>
          <p:nvPr/>
        </p:nvSpPr>
        <p:spPr>
          <a:xfrm>
            <a:off x="793790" y="3062526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9D13200-C5B8-FDFB-3FFA-CBE611FCB9E8}"/>
              </a:ext>
            </a:extLst>
          </p:cNvPr>
          <p:cNvSpPr/>
          <p:nvPr/>
        </p:nvSpPr>
        <p:spPr>
          <a:xfrm>
            <a:off x="801410" y="307014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BD2D1D-D2DD-DC8A-ABB2-2709050074AF}"/>
              </a:ext>
            </a:extLst>
          </p:cNvPr>
          <p:cNvSpPr/>
          <p:nvPr/>
        </p:nvSpPr>
        <p:spPr>
          <a:xfrm>
            <a:off x="1028343" y="321385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600" dirty="0">
                <a:solidFill>
                  <a:schemeClr val="accent3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C239FE-7881-8CFC-2E64-61C926D2E74B}"/>
              </a:ext>
            </a:extLst>
          </p:cNvPr>
          <p:cNvSpPr/>
          <p:nvPr/>
        </p:nvSpPr>
        <p:spPr>
          <a:xfrm>
            <a:off x="4940379" y="3213854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accent3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C8BAFF-E7D2-EC65-E3C0-C9F9E428B84B}"/>
              </a:ext>
            </a:extLst>
          </p:cNvPr>
          <p:cNvSpPr/>
          <p:nvPr/>
        </p:nvSpPr>
        <p:spPr>
          <a:xfrm>
            <a:off x="801410" y="372046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FE02E61-334C-75EC-E0F3-1B57F66D3677}"/>
              </a:ext>
            </a:extLst>
          </p:cNvPr>
          <p:cNvSpPr/>
          <p:nvPr/>
        </p:nvSpPr>
        <p:spPr>
          <a:xfrm>
            <a:off x="1028343" y="386417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IN" sz="1600" dirty="0">
                <a:solidFill>
                  <a:schemeClr val="accent3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blocked secret push</a:t>
            </a:r>
            <a:endParaRPr lang="en-US" sz="1750" dirty="0">
              <a:solidFill>
                <a:schemeClr val="accent3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31BB36A-574B-1DC2-36F0-5EE3B3B88729}"/>
              </a:ext>
            </a:extLst>
          </p:cNvPr>
          <p:cNvSpPr/>
          <p:nvPr/>
        </p:nvSpPr>
        <p:spPr>
          <a:xfrm>
            <a:off x="4940379" y="3864173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accent3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Removed Commit History &amp; Secured API key 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F4CB583-4C68-EFF8-6B8D-90B192FC2E0B}"/>
              </a:ext>
            </a:extLst>
          </p:cNvPr>
          <p:cNvSpPr/>
          <p:nvPr/>
        </p:nvSpPr>
        <p:spPr>
          <a:xfrm>
            <a:off x="801410" y="437078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F556A22-7437-6909-0F41-AF621B6128D4}"/>
              </a:ext>
            </a:extLst>
          </p:cNvPr>
          <p:cNvSpPr/>
          <p:nvPr/>
        </p:nvSpPr>
        <p:spPr>
          <a:xfrm>
            <a:off x="1028343" y="451449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Dependency Conflict (Altair)</a:t>
            </a:r>
            <a:endParaRPr lang="en-US" sz="17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E392ACB-3AC0-44E5-1EDA-AA722DC7669C}"/>
              </a:ext>
            </a:extLst>
          </p:cNvPr>
          <p:cNvSpPr/>
          <p:nvPr/>
        </p:nvSpPr>
        <p:spPr>
          <a:xfrm>
            <a:off x="4940379" y="4514493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Exploratory Data Analysis, insight extraction</a:t>
            </a:r>
            <a:endParaRPr lang="en-US" sz="1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27864D2-037B-799C-F6F5-12E71C00E0F7}"/>
              </a:ext>
            </a:extLst>
          </p:cNvPr>
          <p:cNvSpPr/>
          <p:nvPr/>
        </p:nvSpPr>
        <p:spPr>
          <a:xfrm>
            <a:off x="801410" y="502110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65D15A0-C605-422B-8BE7-A2086C2245BE}"/>
              </a:ext>
            </a:extLst>
          </p:cNvPr>
          <p:cNvSpPr/>
          <p:nvPr/>
        </p:nvSpPr>
        <p:spPr>
          <a:xfrm>
            <a:off x="1028343" y="516481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Cloud KeyError (secrets)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81AD619-DDBA-F28A-6178-D7554E940E94}"/>
              </a:ext>
            </a:extLst>
          </p:cNvPr>
          <p:cNvSpPr/>
          <p:nvPr/>
        </p:nvSpPr>
        <p:spPr>
          <a:xfrm>
            <a:off x="4940379" y="5164812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Dashboard development, feature integration</a:t>
            </a:r>
            <a:endParaRPr lang="en-US" sz="17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7397B06-0F8B-0E7E-7609-AB3E5D544A07}"/>
              </a:ext>
            </a:extLst>
          </p:cNvPr>
          <p:cNvSpPr/>
          <p:nvPr/>
        </p:nvSpPr>
        <p:spPr>
          <a:xfrm>
            <a:off x="801410" y="567142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17FF33B-74CD-4A86-621A-06B05C46BDD2}"/>
              </a:ext>
            </a:extLst>
          </p:cNvPr>
          <p:cNvSpPr/>
          <p:nvPr/>
        </p:nvSpPr>
        <p:spPr>
          <a:xfrm>
            <a:off x="1028343" y="581513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Trial API Limitations</a:t>
            </a:r>
            <a:endParaRPr lang="en-US" sz="17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4A0F76A-596C-EA15-CA3B-E4A403F94ED7}"/>
              </a:ext>
            </a:extLst>
          </p:cNvPr>
          <p:cNvSpPr/>
          <p:nvPr/>
        </p:nvSpPr>
        <p:spPr>
          <a:xfrm>
            <a:off x="4940379" y="5815132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Testing, optimization, documentation, deployment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B853A-CDA1-4E53-4467-D47235693088}"/>
              </a:ext>
            </a:extLst>
          </p:cNvPr>
          <p:cNvSpPr/>
          <p:nvPr/>
        </p:nvSpPr>
        <p:spPr>
          <a:xfrm>
            <a:off x="12801600" y="7636747"/>
            <a:ext cx="1698171" cy="492369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378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2934"/>
            <a:ext cx="6051352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CONCLUSION &amp; Q&amp;A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0098" y="1398508"/>
            <a:ext cx="334351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 IMPACT: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0098" y="2150745"/>
            <a:ext cx="1307020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Transforms raw job data into actionable insights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0098" y="2585323"/>
            <a:ext cx="1307020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Bridges gap between data analysis and career decisions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0098" y="3019901"/>
            <a:ext cx="1307020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User-friendly platform for students and professionals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0098" y="3454479"/>
            <a:ext cx="1307020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Scalable foundation for AI/ML enhancements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14425" y="4312563"/>
            <a:ext cx="12735878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Achievement: 13,623 job listings analyzed across Data Science, AI, ML, and Cloud domains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80098" y="4061817"/>
            <a:ext cx="30480" cy="858083"/>
          </a:xfrm>
          <a:prstGeom prst="rect">
            <a:avLst/>
          </a:prstGeom>
          <a:solidFill>
            <a:srgbClr val="1E1E1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780098" y="5254228"/>
            <a:ext cx="4458057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THANK YOU!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780098" y="5900499"/>
            <a:ext cx="4943356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0098" y="6652736"/>
            <a:ext cx="1307020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80098" y="7260074"/>
            <a:ext cx="1307020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86741C-3F1C-BB58-0810-0D76F37DD7D5}"/>
              </a:ext>
            </a:extLst>
          </p:cNvPr>
          <p:cNvSpPr/>
          <p:nvPr/>
        </p:nvSpPr>
        <p:spPr>
          <a:xfrm>
            <a:off x="12801600" y="7636747"/>
            <a:ext cx="1698171" cy="492369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AB0D3-F0DC-FCB5-0827-BD9512B08394}"/>
              </a:ext>
            </a:extLst>
          </p:cNvPr>
          <p:cNvSpPr/>
          <p:nvPr/>
        </p:nvSpPr>
        <p:spPr>
          <a:xfrm>
            <a:off x="12954000" y="7789147"/>
            <a:ext cx="1698171" cy="492369"/>
          </a:xfrm>
          <a:prstGeom prst="rect">
            <a:avLst/>
          </a:prstGeom>
          <a:solidFill>
            <a:srgbClr val="E8E8E3"/>
          </a:solidFill>
          <a:ln>
            <a:solidFill>
              <a:srgbClr val="E8E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703</Words>
  <Application>Microsoft Office PowerPoint</Application>
  <PresentationFormat>Custom</PresentationFormat>
  <Paragraphs>151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Roboto Condensed</vt:lpstr>
      <vt:lpstr>Hubot Sans Bold</vt:lpstr>
      <vt:lpstr>Arial</vt:lpstr>
      <vt:lpstr>Aptos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Nadeem Memon</cp:lastModifiedBy>
  <cp:revision>8</cp:revision>
  <dcterms:created xsi:type="dcterms:W3CDTF">2026-01-05T05:23:54Z</dcterms:created>
  <dcterms:modified xsi:type="dcterms:W3CDTF">2026-02-20T10:39:36Z</dcterms:modified>
</cp:coreProperties>
</file>